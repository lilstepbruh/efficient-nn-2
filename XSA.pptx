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7a8d62907a00a42c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7a8d62907a00a42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7a8d62907a00a42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7a8d62907a00a4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7a8d62907a00a42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7a8d62907a00a42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7a8d62907a00a42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7a8d62907a00a4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7a8d62907a00a42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7a8d62907a00a42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7a8d62907a00a42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7a8d62907a00a42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a8d62907a00a42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7a8d62907a00a42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7a8d62907a00a42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7a8d62907a00a42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7a8d62907a00a42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7a8d62907a00a42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7a8d62907a00a42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7a8d62907a00a42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7a8d62907a00a42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7a8d62907a00a42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436450"/>
            <a:ext cx="8520600" cy="8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Разбор статьи Exclusive Self Attention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Дисциплина - Efficient NN</a:t>
            </a:r>
            <a:endParaRPr sz="1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Выполнил - Дьяченко Андрей Сергеевич</a:t>
            </a:r>
            <a:endParaRPr sz="1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Может ли attention меньше повторять то, что токен уже знает?</a:t>
            </a:r>
            <a:endParaRPr b="1" sz="1800"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1509738"/>
            <a:ext cx="8520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Трансформер обновляет представление каждого токена, объединяя информацию из контекста. При этом результат self-attention часто оказывается направлен примерно так же, как value-вектор самого токена, и частично повторяет уже доступную модели информацию.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Гипотеза XSA состоит в том, что attention будет лучше работать с контекстом, если удалить из его результата составляющую, направленную вдоль собственного value-вектора токена. Это изменение почти не затрагивает архитектуру и не добавляет обучаемых параметров.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Как self-attention собирает контекст</a:t>
            </a:r>
            <a:endParaRPr b="1" sz="18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00" y="1319775"/>
            <a:ext cx="4713824" cy="26515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" name="Google Shape;68;p15"/>
          <p:cNvSpPr txBox="1"/>
          <p:nvPr/>
        </p:nvSpPr>
        <p:spPr>
          <a:xfrm>
            <a:off x="5330925" y="1863750"/>
            <a:ext cx="3571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b="1" lang="ru" sz="1000"/>
              <a:t>Сравнение</a:t>
            </a:r>
            <a:r>
              <a:rPr lang="ru" sz="1000"/>
              <a:t>: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Произведение Q на K транспонированное</a:t>
            </a:r>
            <a:br>
              <a:rPr lang="ru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b="1" lang="ru" sz="1000"/>
              <a:t>Нормализация</a:t>
            </a:r>
            <a:r>
              <a:rPr lang="ru" sz="1000"/>
              <a:t>:</a:t>
            </a:r>
            <a:br>
              <a:rPr lang="ru" sz="1000"/>
            </a:br>
            <a:r>
              <a:rPr lang="ru" sz="1000"/>
              <a:t>Softmax превращает оценки в веса</a:t>
            </a:r>
            <a:br>
              <a:rPr lang="ru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b="1" lang="ru" sz="1000"/>
              <a:t>Смешивание</a:t>
            </a:r>
            <a:r>
              <a:rPr lang="ru" sz="1000"/>
              <a:t>: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Взвешенная сумма value-векторов V</a:t>
            </a:r>
            <a:endParaRPr sz="1000"/>
          </a:p>
        </p:txBody>
      </p:sp>
      <p:sp>
        <p:nvSpPr>
          <p:cNvPr id="69" name="Google Shape;69;p15"/>
          <p:cNvSpPr txBox="1"/>
          <p:nvPr/>
        </p:nvSpPr>
        <p:spPr>
          <a:xfrm>
            <a:off x="736788" y="4104425"/>
            <a:ext cx="386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chemeClr val="dk1"/>
                </a:solidFill>
              </a:rPr>
              <a:t>Q</a:t>
            </a:r>
            <a:r>
              <a:rPr lang="ru" sz="1000">
                <a:solidFill>
                  <a:schemeClr val="dk1"/>
                </a:solidFill>
              </a:rPr>
              <a:t> - что ищем, </a:t>
            </a:r>
            <a:r>
              <a:rPr b="1" lang="ru" sz="1000">
                <a:solidFill>
                  <a:schemeClr val="dk1"/>
                </a:solidFill>
              </a:rPr>
              <a:t>K</a:t>
            </a:r>
            <a:r>
              <a:rPr lang="ru" sz="1000">
                <a:solidFill>
                  <a:schemeClr val="dk1"/>
                </a:solidFill>
              </a:rPr>
              <a:t> - где ищем, </a:t>
            </a:r>
            <a:r>
              <a:rPr b="1" lang="ru" sz="1000">
                <a:solidFill>
                  <a:schemeClr val="dk1"/>
                </a:solidFill>
              </a:rPr>
              <a:t>V</a:t>
            </a:r>
            <a:r>
              <a:rPr lang="ru" sz="1000">
                <a:solidFill>
                  <a:schemeClr val="dk1"/>
                </a:solidFill>
              </a:rPr>
              <a:t> - какую информацию получаем.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Почему attention может дублировать информацию</a:t>
            </a:r>
            <a:endParaRPr b="1" sz="1800"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1313" t="2382"/>
          <a:stretch/>
        </p:blipFill>
        <p:spPr>
          <a:xfrm>
            <a:off x="513450" y="1321200"/>
            <a:ext cx="4686902" cy="28358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" name="Google Shape;76;p16"/>
          <p:cNvSpPr txBox="1"/>
          <p:nvPr/>
        </p:nvSpPr>
        <p:spPr>
          <a:xfrm>
            <a:off x="5707325" y="1632900"/>
            <a:ext cx="3000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Residual connection уже передаёт представление текущей позиции.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FFN преобразует признаки каждого токена отдельно, а задача attention - собирать контекст.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Если выход attention направлен вдоль собственного value, эти функции частично дублируются.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XSA. Удаление проекции на собственный value</a:t>
            </a:r>
            <a:endParaRPr b="1" sz="18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125" y="1002925"/>
            <a:ext cx="1683475" cy="6749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4125" y="2214136"/>
            <a:ext cx="1683475" cy="71523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4125" y="3410575"/>
            <a:ext cx="3222824" cy="583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7"/>
          <p:cNvSpPr txBox="1"/>
          <p:nvPr/>
        </p:nvSpPr>
        <p:spPr>
          <a:xfrm>
            <a:off x="253500" y="1121475"/>
            <a:ext cx="369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Находим компоненту yi, направленную вдоль vi:</a:t>
            </a:r>
            <a:endParaRPr sz="1200"/>
          </a:p>
        </p:txBody>
      </p:sp>
      <p:sp>
        <p:nvSpPr>
          <p:cNvPr id="86" name="Google Shape;86;p17"/>
          <p:cNvSpPr txBox="1"/>
          <p:nvPr/>
        </p:nvSpPr>
        <p:spPr>
          <a:xfrm>
            <a:off x="311700" y="2412650"/>
            <a:ext cx="355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/>
              <a:t>Вычитаем эту компоненту из выхода attention:</a:t>
            </a:r>
            <a:endParaRPr sz="1200"/>
          </a:p>
        </p:txBody>
      </p:sp>
      <p:sp>
        <p:nvSpPr>
          <p:cNvPr id="87" name="Google Shape;87;p17"/>
          <p:cNvSpPr txBox="1"/>
          <p:nvPr/>
        </p:nvSpPr>
        <p:spPr>
          <a:xfrm>
            <a:off x="253500" y="3517550"/>
            <a:ext cx="402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/>
              <a:t>Полученный вектор ортогонален собственному value:</a:t>
            </a:r>
            <a:endParaRPr sz="1200"/>
          </a:p>
        </p:txBody>
      </p:sp>
      <p:sp>
        <p:nvSpPr>
          <p:cNvPr id="88" name="Google Shape;88;p17"/>
          <p:cNvSpPr txBox="1"/>
          <p:nvPr/>
        </p:nvSpPr>
        <p:spPr>
          <a:xfrm>
            <a:off x="253500" y="4370750"/>
            <a:ext cx="852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100"/>
              <a:t>XSA удаляет только направление собственного value и не добавляет обучаемых параметров.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Геометрическая интерпретация XSA</a:t>
            </a:r>
            <a:endParaRPr b="1" sz="1800"/>
          </a:p>
        </p:txBody>
      </p:sp>
      <p:pic>
        <p:nvPicPr>
          <p:cNvPr id="94" name="Google Shape;94;p18" title="Снимок экрана от 2026-10-10 13-56-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463" y="1849650"/>
            <a:ext cx="5626223" cy="261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359275" y="905463"/>
            <a:ext cx="8520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Выход обычного attention состоит из компоненты вдоль собственного value и ортогональной компоненты.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/>
              <a:t>XSA вычитает проекцию Y на v. В результате остается вектор Z, ортогональный собственному value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XSA - не маскирование собственной позиции</a:t>
            </a:r>
            <a:endParaRPr b="1" sz="1800"/>
          </a:p>
        </p:txBody>
      </p:sp>
      <p:sp>
        <p:nvSpPr>
          <p:cNvPr id="101" name="Google Shape;101;p19"/>
          <p:cNvSpPr txBox="1"/>
          <p:nvPr/>
        </p:nvSpPr>
        <p:spPr>
          <a:xfrm>
            <a:off x="431700" y="1198300"/>
            <a:ext cx="82806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Маскирование собственной позиции изменяет веса attention.</a:t>
            </a:r>
            <a:r>
              <a:rPr lang="ru" sz="1200">
                <a:solidFill>
                  <a:schemeClr val="dk1"/>
                </a:solidFill>
              </a:rPr>
              <a:t> Диагональный вес обнуляется, а softmax перераспределяет внимание между остальными токенами. Текущий токен исключается из смешивания, и вклад других позиций увеличивается.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XSA сохраняет исходные веса attention.</a:t>
            </a:r>
            <a:r>
              <a:rPr lang="ru" sz="1200">
                <a:solidFill>
                  <a:schemeClr val="dk1"/>
                </a:solidFill>
              </a:rPr>
              <a:t> Сначала выполняется обычное смешивание, а затем из результата удаляется компонента вдоль value текущего токена. Поэтому маска меняет, </a:t>
            </a:r>
            <a:r>
              <a:rPr b="1" lang="ru" sz="1200">
                <a:solidFill>
                  <a:schemeClr val="dk1"/>
                </a:solidFill>
              </a:rPr>
              <a:t>куда смотрит attention</a:t>
            </a:r>
            <a:r>
              <a:rPr lang="ru" sz="1200">
                <a:solidFill>
                  <a:schemeClr val="dk1"/>
                </a:solidFill>
              </a:rPr>
              <a:t>, а XSA - </a:t>
            </a:r>
            <a:r>
              <a:rPr b="1" lang="ru" sz="1200">
                <a:solidFill>
                  <a:schemeClr val="dk1"/>
                </a:solidFill>
              </a:rPr>
              <a:t>какая информация остается в его выходе</a:t>
            </a:r>
            <a:r>
              <a:rPr lang="ru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XSA добавляется сразу после обычного attention</a:t>
            </a:r>
            <a:endParaRPr b="1" sz="1800"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488" y="1053125"/>
            <a:ext cx="4057025" cy="12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311700" y="2680800"/>
            <a:ext cx="59025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Единственное изменение относительно стандартного attention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Q, K, V → Attention → Y → XSA-проекция → объединение голов → Wₒ → Residual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311700" y="3533475"/>
            <a:ext cx="84606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Проекция применяется отдельно внутри каждой attention-головы, до объединения голов и выходного слоя </a:t>
            </a:r>
            <a:r>
              <a:rPr lang="ru" sz="1100">
                <a:solidFill>
                  <a:schemeClr val="dk1"/>
                </a:solidFill>
              </a:rPr>
              <a:t>Wₒ</a:t>
            </a:r>
            <a:r>
              <a:rPr lang="ru" sz="1200"/>
              <a:t>. Новые обучаемые параметры не добавляются.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/>
              <a:t>Дополнительная операция линейна по числу элементов выхода. Она не меняет квадратичную сложность attention и не уменьшает KV cache.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Как проверяют гипотезу XSA</a:t>
            </a:r>
            <a:endParaRPr b="1" sz="1800"/>
          </a:p>
        </p:txBody>
      </p:sp>
      <p:sp>
        <p:nvSpPr>
          <p:cNvPr id="115" name="Google Shape;115;p21"/>
          <p:cNvSpPr txBox="1"/>
          <p:nvPr/>
        </p:nvSpPr>
        <p:spPr>
          <a:xfrm>
            <a:off x="431700" y="1136850"/>
            <a:ext cx="82806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Главный принцип:</a:t>
            </a:r>
            <a:r>
              <a:rPr lang="ru" sz="1100">
                <a:solidFill>
                  <a:schemeClr val="dk1"/>
                </a:solidFill>
              </a:rPr>
              <a:t> сравнить SA и XSA при одинаковых данные, архитектуре, числе токенов и шагов обучения. Единственным существенным различием между моделями является обработка результата attention.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450" y="1914000"/>
            <a:ext cx="6599601" cy="2048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21"/>
          <p:cNvSpPr txBox="1"/>
          <p:nvPr/>
        </p:nvSpPr>
        <p:spPr>
          <a:xfrm>
            <a:off x="371950" y="4240150"/>
            <a:ext cx="828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Если XSA при том же бюджете снижает loss и perplexity, а также улучшает downstream accuracy, гипотеза получает экспериментальное подтверждение.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Как читать результаты</a:t>
            </a:r>
            <a:endParaRPr b="1" sz="1800"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312" y="823725"/>
            <a:ext cx="7235379" cy="2631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" name="Google Shape;124;p22"/>
          <p:cNvSpPr txBox="1"/>
          <p:nvPr/>
        </p:nvSpPr>
        <p:spPr>
          <a:xfrm>
            <a:off x="344400" y="3705475"/>
            <a:ext cx="8487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Слева показан training loss, справа validation loss. Для каждого размера модели кривая XSA проходит ниже соответствующей baseline-кривой. Это означает, что при одинаковом числе итераций XSA достигает меньшей ошибки как на обучающей, так и на валидационной выборке.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Вывод: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chemeClr val="dk1"/>
                </a:solidFill>
              </a:rPr>
              <a:t>В экспериментах статьи XSA показывает меньший training и validation loss</a:t>
            </a:r>
            <a:r>
              <a:rPr lang="ru" sz="1100">
                <a:solidFill>
                  <a:schemeClr val="dk1"/>
                </a:solidFill>
              </a:rPr>
              <a:t> во всех трёх рассмотренных масштабах модели, а снижение validation loss показывает, что эффект сохраняется на данных, не использованных для обучения.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2404300" y="3455725"/>
            <a:ext cx="413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800">
                <a:solidFill>
                  <a:srgbClr val="999999"/>
                </a:solidFill>
              </a:rPr>
              <a:t>Источник: Figure 3, Exclusive Self-Attention. Обучение до 200K итераций.</a:t>
            </a:r>
            <a:endParaRPr sz="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Как читать результаты</a:t>
            </a:r>
            <a:endParaRPr b="1" sz="1800"/>
          </a:p>
        </p:txBody>
      </p:sp>
      <p:sp>
        <p:nvSpPr>
          <p:cNvPr id="131" name="Google Shape;131;p23"/>
          <p:cNvSpPr txBox="1"/>
          <p:nvPr/>
        </p:nvSpPr>
        <p:spPr>
          <a:xfrm>
            <a:off x="328050" y="3490375"/>
            <a:ext cx="8487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Слева показан training loss, справа validation loss при разных длинах последовательности. Увеличение контекста снижает ошибку обеих моделей, но XSA показывает меньший loss при каждой рассмотренной длине.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Разрыв между XSA и baseline постепенно увеличивается с ростом последовательности. Это поддерживает гипотезу о том, что удаление компоненты собственного value помогает attention эффективнее использовать длинный контекст.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Вывод</a:t>
            </a:r>
            <a:r>
              <a:rPr lang="ru" sz="1100">
                <a:solidFill>
                  <a:schemeClr val="dk1"/>
                </a:solidFill>
              </a:rPr>
              <a:t>: преимущество XSA сохраняется на всех длинах и становится заметнее при увеличении контекста.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050" y="858638"/>
            <a:ext cx="6791900" cy="2377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" name="Google Shape;133;p23"/>
          <p:cNvSpPr txBox="1"/>
          <p:nvPr/>
        </p:nvSpPr>
        <p:spPr>
          <a:xfrm>
            <a:off x="1881975" y="3236450"/>
            <a:ext cx="60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800">
                <a:solidFill>
                  <a:srgbClr val="999999"/>
                </a:solidFill>
              </a:rPr>
              <a:t>Источник: Figure 5, Exclusive Self-Attention. Модель 1.3B; число токенов в batch остаётся постоянным.</a:t>
            </a:r>
            <a:endParaRPr sz="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ctrTitle"/>
          </p:nvPr>
        </p:nvSpPr>
        <p:spPr>
          <a:xfrm>
            <a:off x="311700" y="240575"/>
            <a:ext cx="8520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00"/>
              <a:t>Ограничения XSA</a:t>
            </a:r>
            <a:endParaRPr b="1" sz="1800"/>
          </a:p>
        </p:txBody>
      </p:sp>
      <p:sp>
        <p:nvSpPr>
          <p:cNvPr id="139" name="Google Shape;139;p24"/>
          <p:cNvSpPr txBox="1"/>
          <p:nvPr/>
        </p:nvSpPr>
        <p:spPr>
          <a:xfrm>
            <a:off x="431700" y="1336550"/>
            <a:ext cx="82806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XSA удаляет всё направление собственного value, включая похожую информацию, пришедшую из контекста. Такая информация не обязательно бесполезна.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После проекции уменьшается норма выхода attention. Поэтому эффект может быть связан не только с устранением дублирования, но и с изменением масштаба активаций.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XSA меняет процесс обучения модели. Его нельзя корректно оценить, просто включив в уже обученную SA-модель.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Экспериментальное преимущество нужно проверять на нескольких seed при одинаковых данных, архитектуре и вычислительном бюджете!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